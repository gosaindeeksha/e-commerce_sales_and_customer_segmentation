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61"/>
    <a:srgbClr val="2AAAB0"/>
    <a:srgbClr val="018790"/>
    <a:srgbClr val="F9F9F9"/>
    <a:srgbClr val="F0F0F0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6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5T10:53:40.68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5T10:53:40.68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5T10:53:40.68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5T10:53:40.68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5T10:53:40.68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5T10:53:40.68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5T10:53:40.6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5T10:53:40.6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5T10:53:40.6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34BEE-A83B-4A24-9AAD-06185691E0B8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B707D-726A-4FD2-9698-6EBE93BFE3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77742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6B707D-726A-4FD2-9698-6EBE93BFE35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302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8EEBB-60A7-F36E-D05D-C0EFD3BA9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A8134-0153-A866-6324-7F03A0B5C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83C9D-9790-7394-DE98-9B1EF154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E8C8E-01FA-6192-244E-80F8A8D3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E6D53-FCF8-69D4-1E82-552EE0C3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49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9F731-5FE0-DA00-7738-A11343B8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A5463-536A-B1CB-97D7-0A9B3F37C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5653A-33C8-AFD4-8DCB-D556D2756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CE380-EF69-483F-1CE1-83A2FEF34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8658B-09B5-0B27-EC98-11EB8739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088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A32E-C4D0-56FD-4C46-EA2FE36D4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0A594-ED1C-CBA7-8433-E1FD672C3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16613-FB08-0C0B-492A-EC314021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A82EB-A336-F01F-4DFE-9D560209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CED56-63EE-099C-B709-C86344A3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895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C2F8B-F36C-3FBF-B68F-1903887C7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50183-EC70-7771-6A87-25558D2BC3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89683-6758-A3EA-0C62-02CDEC925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EC6F68-E1CE-AEAC-8C76-2A2219072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A9C39-3351-AAB7-4D5A-828ADBA7F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F0D378-7C1B-297C-1FAD-D5E1F050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62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E44B4-84DB-28BA-4569-48E508277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28A00-96A1-1D95-2BA4-F712CA32B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56C64-4073-FB93-9243-88530F614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C8F916-E7D5-473F-8590-952A8933B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8E1DB8-9A07-4C7B-B759-65917C7677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5440C7-B1CE-9EA9-AC93-DAC2B5A71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97CD98-20A1-63AA-3CCE-07B529D3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0CE577-FAEF-BCFD-15D6-D7881B804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31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49A0-2351-CE64-7311-4723DD4D2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924266-9309-6663-6EB7-AC797A3D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B3B46-95CB-E4CD-6C3F-F9DDEB4E4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86D8E7-4BA8-04C3-4843-96C41211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9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194EC4-4CFB-C0B6-7DCF-FD5C47170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AA0369-106F-B500-2ED1-2C9DE3D8E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E9040D-D822-2CE7-219C-54CE2F91E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251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556E-C5C9-7954-0AD6-6D2C099F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6F5AE-F9C4-5E09-9186-3890A8FBB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9481CD-44FB-2E5D-7E50-B9E20B686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A3004-FF74-E0CB-1E55-F356A60E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72F13-2018-B98A-4A66-E68F87CB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317FF-5C1C-ECB6-5459-F02D5229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686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B0E58-E54A-1688-3A20-4EFE1C778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0BF6C-6368-8D4D-A984-2695335147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1C454-6F6C-7157-2037-727BE4A212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E3F92-8BCB-2574-D795-AE508BDED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A81A8-AA38-090D-8F57-86ADF5D2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2A99C8-16B4-2CBB-0AD9-005B7D1C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94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52AEF-0C78-42B8-4CC8-E391EAD0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CF6C6A-877A-6470-243D-B53CE2A4C5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A5106-9B6F-6C3A-CD23-269B18A36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4F179-54EB-2C7A-601E-7EF530615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D92F0-07C9-A20D-A6D4-1CD20487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444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6A1AC-A318-2907-A899-83E31CADFC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7AF4C4-D4CD-D082-5A81-0A9DCD1D0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2FA76-D50D-5F02-4F25-9A9DD27B1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0C9B4-03BB-98F6-4B4F-B95C8E426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3535C-A8C6-7150-0BC7-75BE0949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411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86468A-3132-D5AF-C7BF-71097CC7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1F9961-62A4-9D5A-21CA-7AFDEE43A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16834-3E60-C10B-4B5B-67369E039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4F161A-C04B-453F-A85B-7C8EDD4B8DA7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12D2A-918A-0B79-8F6F-859C6A9C13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00CDE-4B4E-2EB7-7D99-8DAEE5F1F4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B1674-032E-41A2-871E-53733698115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987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microsoft.com/office/2007/relationships/hdphoto" Target="../media/hdphoto1.wdp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3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089F823-1E3C-A007-6CBD-E324B0441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0012" y="0"/>
            <a:ext cx="10282484" cy="3058290"/>
          </a:xfrm>
          <a:noFill/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b="1" dirty="0">
                <a:solidFill>
                  <a:srgbClr val="005461"/>
                </a:solidFill>
              </a:rPr>
              <a:t>E-commerce Sales &amp; Customer Segmentation Analysis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EE1D151-BE10-0A38-5DF1-DF1468AA6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626" y="4089174"/>
            <a:ext cx="4791263" cy="505518"/>
          </a:xfrm>
          <a:noFill/>
        </p:spPr>
        <p:txBody>
          <a:bodyPr/>
          <a:lstStyle/>
          <a:p>
            <a:r>
              <a:rPr lang="en-US" dirty="0">
                <a:solidFill>
                  <a:srgbClr val="2AAAB0"/>
                </a:solidFill>
              </a:rPr>
              <a:t>Created by - Deeksha Gosain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A135D4E-A069-E35C-4AFD-29CA783DB18E}"/>
              </a:ext>
            </a:extLst>
          </p:cNvPr>
          <p:cNvSpPr txBox="1">
            <a:spLocks/>
          </p:cNvSpPr>
          <p:nvPr/>
        </p:nvSpPr>
        <p:spPr>
          <a:xfrm>
            <a:off x="793020" y="3058290"/>
            <a:ext cx="6852212" cy="50551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18790"/>
                </a:solidFill>
              </a:rPr>
              <a:t>Optimizing product offerings, marketing, and revenue retention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117554F-A315-19CC-BE0A-0EEBE173B154}"/>
              </a:ext>
            </a:extLst>
          </p:cNvPr>
          <p:cNvCxnSpPr/>
          <p:nvPr/>
        </p:nvCxnSpPr>
        <p:spPr>
          <a:xfrm>
            <a:off x="740012" y="3700111"/>
            <a:ext cx="10428258" cy="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133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B904A8B-C121-183C-467B-F1902621BBA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810"/>
                    </a14:imgEffect>
                    <a14:imgEffect>
                      <a14:saturation sat="18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  <a:noFill/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CB1F60C-55FE-DA1E-AEA9-967205C894EA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 dirty="0">
                <a:solidFill>
                  <a:srgbClr val="005461"/>
                </a:solidFill>
              </a:rPr>
              <a:t>OUTLINE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AB5055-4C10-6F88-410F-913AD8630B56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>
                <a:solidFill>
                  <a:srgbClr val="2AAAB0"/>
                </a:solidFill>
              </a:rPr>
              <a:t>Executive Summary</a:t>
            </a:r>
          </a:p>
          <a:p>
            <a:r>
              <a:rPr lang="en-US" sz="2200" dirty="0">
                <a:solidFill>
                  <a:srgbClr val="2AAAB0"/>
                </a:solidFill>
              </a:rPr>
              <a:t>Introduction</a:t>
            </a:r>
          </a:p>
          <a:p>
            <a:r>
              <a:rPr lang="en-US" sz="2200" dirty="0">
                <a:solidFill>
                  <a:srgbClr val="2AAAB0"/>
                </a:solidFill>
              </a:rPr>
              <a:t>Methodology</a:t>
            </a:r>
          </a:p>
          <a:p>
            <a:r>
              <a:rPr lang="en-US" sz="2200" dirty="0">
                <a:solidFill>
                  <a:srgbClr val="2AAAB0"/>
                </a:solidFill>
              </a:rPr>
              <a:t>Results</a:t>
            </a:r>
          </a:p>
          <a:p>
            <a:pPr lvl="1"/>
            <a:r>
              <a:rPr lang="en-US" sz="1800" dirty="0">
                <a:solidFill>
                  <a:srgbClr val="2AAAB0"/>
                </a:solidFill>
              </a:rPr>
              <a:t>Visualization – Charts</a:t>
            </a:r>
          </a:p>
          <a:p>
            <a:pPr lvl="1"/>
            <a:r>
              <a:rPr lang="en-US" sz="1800" dirty="0">
                <a:solidFill>
                  <a:srgbClr val="2AAAB0"/>
                </a:solidFill>
              </a:rPr>
              <a:t>Dashboard</a:t>
            </a:r>
          </a:p>
          <a:p>
            <a:r>
              <a:rPr lang="en-US" sz="2200" dirty="0">
                <a:solidFill>
                  <a:srgbClr val="2AAAB0"/>
                </a:solidFill>
              </a:rPr>
              <a:t>Discussion</a:t>
            </a:r>
          </a:p>
          <a:p>
            <a:pPr lvl="1"/>
            <a:r>
              <a:rPr lang="en-US" sz="1800" dirty="0">
                <a:solidFill>
                  <a:srgbClr val="2AAAB0"/>
                </a:solidFill>
              </a:rPr>
              <a:t>Findings &amp; Implications</a:t>
            </a:r>
          </a:p>
          <a:p>
            <a:r>
              <a:rPr lang="en-US" sz="2200" dirty="0">
                <a:solidFill>
                  <a:srgbClr val="2AAAB0"/>
                </a:solidFill>
              </a:rPr>
              <a:t>Conclusion</a:t>
            </a:r>
          </a:p>
          <a:p>
            <a:r>
              <a:rPr lang="en-US" sz="2200" dirty="0">
                <a:solidFill>
                  <a:srgbClr val="2AAAB0"/>
                </a:solidFill>
              </a:rPr>
              <a:t>Appendix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B551D3-4D27-C67D-A823-AB7CECEC74F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B551D3-4D27-C67D-A823-AB7CECEC74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B236E1-E40D-5FF2-077A-34FAB04346CC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B236E1-E40D-5FF2-077A-34FAB04346C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73E2915-2CED-7FB9-15A9-A938B443C27F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73E2915-2CED-7FB9-15A9-A938B443C27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74B8293-BFF8-3EBA-63C6-60BD0EA6398B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74B8293-BFF8-3EBA-63C6-60BD0EA6398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68CFF07-A3D3-CA06-C7DF-5814A99BE1C8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68CFF07-A3D3-CA06-C7DF-5814A99BE1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FEBC64D-E4D3-DC9C-94E8-7817EE73B973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FEBC64D-E4D3-DC9C-94E8-7817EE73B97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A0D5E1B-4833-C9D4-AE29-4560372DAE24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A0D5E1B-4833-C9D4-AE29-4560372DAE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E87B27B-A30A-8995-E41E-7B4DBB214DF9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E87B27B-A30A-8995-E41E-7B4DBB214D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E8C2C9A-1AA6-7F0B-8680-31C949F7AD6E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E8C2C9A-1AA6-7F0B-8680-31C949F7AD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1EFFA6A-97FB-737B-5720-1964C2A5EB1B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714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AC2D-012E-B6DC-7DFF-C834B2950BA5}"/>
              </a:ext>
            </a:extLst>
          </p:cNvPr>
          <p:cNvSpPr txBox="1">
            <a:spLocks/>
          </p:cNvSpPr>
          <p:nvPr/>
        </p:nvSpPr>
        <p:spPr>
          <a:xfrm>
            <a:off x="733926" y="304965"/>
            <a:ext cx="8565109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5461"/>
                </a:solidFill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F86B6-FDD6-6FC0-66A6-AD4AEEF3BD6E}"/>
              </a:ext>
            </a:extLst>
          </p:cNvPr>
          <p:cNvSpPr txBox="1">
            <a:spLocks/>
          </p:cNvSpPr>
          <p:nvPr/>
        </p:nvSpPr>
        <p:spPr>
          <a:xfrm>
            <a:off x="3590594" y="1560449"/>
            <a:ext cx="8097823" cy="49925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8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700" dirty="0">
                <a:solidFill>
                  <a:srgbClr val="2AAAB0"/>
                </a:solidFill>
              </a:rPr>
              <a:t>The project was conducted to understand </a:t>
            </a:r>
            <a:r>
              <a:rPr lang="en-US" sz="1700" b="1" dirty="0">
                <a:solidFill>
                  <a:srgbClr val="2AAAB0"/>
                </a:solidFill>
              </a:rPr>
              <a:t>customer value distribution and engagement patterns</a:t>
            </a:r>
            <a:r>
              <a:rPr lang="en-US" sz="1700" dirty="0">
                <a:solidFill>
                  <a:srgbClr val="2AAAB0"/>
                </a:solidFill>
              </a:rPr>
              <a:t> within an e-commerce business, with the objective of enabling </a:t>
            </a:r>
            <a:r>
              <a:rPr lang="en-US" sz="1700" b="1" dirty="0">
                <a:solidFill>
                  <a:srgbClr val="2AAAB0"/>
                </a:solidFill>
              </a:rPr>
              <a:t>data-driven retention, upsell, and win-back strategies</a:t>
            </a:r>
            <a:r>
              <a:rPr lang="en-US" sz="1700" dirty="0">
                <a:solidFill>
                  <a:srgbClr val="2AAAB0"/>
                </a:solidFill>
              </a:rPr>
              <a:t>.</a:t>
            </a:r>
          </a:p>
          <a:p>
            <a:pPr indent="-18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700" dirty="0">
                <a:solidFill>
                  <a:srgbClr val="2AAAB0"/>
                </a:solidFill>
              </a:rPr>
              <a:t>This project analyzes e-commerce transactional data to segment customers using </a:t>
            </a:r>
            <a:r>
              <a:rPr lang="en-US" sz="1700" b="1" dirty="0">
                <a:solidFill>
                  <a:srgbClr val="2AAAB0"/>
                </a:solidFill>
              </a:rPr>
              <a:t>RFM analysis </a:t>
            </a:r>
            <a:r>
              <a:rPr lang="en-US" sz="1700" dirty="0">
                <a:solidFill>
                  <a:srgbClr val="2AAAB0"/>
                </a:solidFill>
              </a:rPr>
              <a:t>and </a:t>
            </a:r>
            <a:r>
              <a:rPr lang="en-US" sz="1700" b="1" dirty="0">
                <a:solidFill>
                  <a:srgbClr val="2AAAB0"/>
                </a:solidFill>
              </a:rPr>
              <a:t>K-Means clustering</a:t>
            </a:r>
            <a:r>
              <a:rPr lang="en-US" sz="1700" dirty="0">
                <a:solidFill>
                  <a:srgbClr val="2AAAB0"/>
                </a:solidFill>
              </a:rPr>
              <a:t>. </a:t>
            </a:r>
          </a:p>
          <a:p>
            <a:pPr indent="-18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700" dirty="0">
                <a:solidFill>
                  <a:srgbClr val="2AAAB0"/>
                </a:solidFill>
              </a:rPr>
              <a:t>Customer segmentation was performed using RFM analysis, categorizing users into four business-relevant segments:</a:t>
            </a:r>
          </a:p>
          <a:p>
            <a:pPr lvl="1" indent="-18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2AAAB0"/>
                </a:solidFill>
              </a:rPr>
              <a:t>Active High Value Customers </a:t>
            </a:r>
            <a:r>
              <a:rPr lang="en-US" sz="1400" dirty="0">
                <a:solidFill>
                  <a:srgbClr val="2AAAB0"/>
                </a:solidFill>
              </a:rPr>
              <a:t>(77.23%  revenue share with VVIP micro-segment found using K-Means Clustering)</a:t>
            </a:r>
          </a:p>
          <a:p>
            <a:pPr lvl="1" indent="-18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2AAAB0"/>
                </a:solidFill>
              </a:rPr>
              <a:t>Inactive High Value Customers</a:t>
            </a:r>
          </a:p>
          <a:p>
            <a:pPr lvl="1" indent="-18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2AAAB0"/>
                </a:solidFill>
              </a:rPr>
              <a:t>Active Low Value Customers</a:t>
            </a:r>
          </a:p>
          <a:p>
            <a:pPr lvl="1" indent="-18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2AAAB0"/>
                </a:solidFill>
              </a:rPr>
              <a:t>Inactive Low Value Customers</a:t>
            </a:r>
          </a:p>
          <a:p>
            <a:pPr indent="-18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700" dirty="0">
                <a:solidFill>
                  <a:srgbClr val="2AAAB0"/>
                </a:solidFill>
              </a:rPr>
              <a:t>The findings highlight a </a:t>
            </a:r>
            <a:r>
              <a:rPr lang="en-US" sz="1700" b="1" dirty="0">
                <a:solidFill>
                  <a:srgbClr val="2AAAB0"/>
                </a:solidFill>
              </a:rPr>
              <a:t>strong dependence on a small group of high-value customers</a:t>
            </a:r>
            <a:r>
              <a:rPr lang="en-US" sz="1700" dirty="0">
                <a:solidFill>
                  <a:srgbClr val="2AAAB0"/>
                </a:solidFill>
              </a:rPr>
              <a:t>, alongside clear growth opportunities in </a:t>
            </a:r>
            <a:r>
              <a:rPr lang="en-US" sz="1700" b="1" dirty="0">
                <a:solidFill>
                  <a:srgbClr val="2AAAB0"/>
                </a:solidFill>
              </a:rPr>
              <a:t>Active Low-Value customers</a:t>
            </a:r>
            <a:r>
              <a:rPr lang="en-US" sz="1700" dirty="0">
                <a:solidFill>
                  <a:srgbClr val="2AAAB0"/>
                </a:solidFill>
              </a:rPr>
              <a:t> through order-value expansion and in </a:t>
            </a:r>
            <a:r>
              <a:rPr lang="en-US" sz="1700" b="1" dirty="0">
                <a:solidFill>
                  <a:srgbClr val="2AAAB0"/>
                </a:solidFill>
              </a:rPr>
              <a:t>Inactive High-Value customers</a:t>
            </a:r>
            <a:r>
              <a:rPr lang="en-US" sz="1700" dirty="0">
                <a:solidFill>
                  <a:srgbClr val="2AAAB0"/>
                </a:solidFill>
              </a:rPr>
              <a:t> through targeted win-back initiatives.</a:t>
            </a:r>
            <a:endParaRPr lang="en-US" sz="1700" b="1" dirty="0">
              <a:solidFill>
                <a:srgbClr val="2AAAB0"/>
              </a:solidFill>
            </a:endParaRPr>
          </a:p>
          <a:p>
            <a:pPr marL="457200" lvl="1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dirty="0">
              <a:solidFill>
                <a:srgbClr val="2AAAB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832F2D-FA17-40C9-AE93-0FF22B3B104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96013" y="2210165"/>
            <a:ext cx="3194581" cy="31945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FC756C-D252-7395-3027-8481D453317F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0138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03C96-66DA-593B-625B-A10D96FEFFAE}"/>
              </a:ext>
            </a:extLst>
          </p:cNvPr>
          <p:cNvSpPr txBox="1">
            <a:spLocks/>
          </p:cNvSpPr>
          <p:nvPr/>
        </p:nvSpPr>
        <p:spPr>
          <a:xfrm>
            <a:off x="770021" y="365125"/>
            <a:ext cx="7647865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5461"/>
                </a:solidFill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27BB82-FC5F-D8A3-2821-CA6216DFE0E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1830" y="2262036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BCF157-8F99-713F-5BEA-7F0EDD97282A}"/>
              </a:ext>
            </a:extLst>
          </p:cNvPr>
          <p:cNvSpPr txBox="1">
            <a:spLocks/>
          </p:cNvSpPr>
          <p:nvPr/>
        </p:nvSpPr>
        <p:spPr>
          <a:xfrm>
            <a:off x="3825834" y="1490873"/>
            <a:ext cx="8049791" cy="51782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800" dirty="0">
                <a:solidFill>
                  <a:srgbClr val="2AAAB0"/>
                </a:solidFill>
              </a:rPr>
              <a:t>This project uses UCI Online Retail data for a non-store online retail store based in UK between Dec 2010 and Dec 2011, which contains transactions from 4339 customers worldwide.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800" dirty="0">
                <a:solidFill>
                  <a:srgbClr val="2AAAB0"/>
                </a:solidFill>
              </a:rPr>
              <a:t>Three key questions guide the analysis: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sz="1500" dirty="0">
                <a:solidFill>
                  <a:srgbClr val="2AAAB0"/>
                </a:solidFill>
              </a:rPr>
              <a:t>How are customers distributed based on recency, purchase frequency, and monetary value?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sz="1500" dirty="0">
                <a:solidFill>
                  <a:srgbClr val="2AAAB0"/>
                </a:solidFill>
              </a:rPr>
              <a:t>Which customer segments contribute the most to overall revenue?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r>
              <a:rPr lang="en-US" sz="1500" dirty="0">
                <a:solidFill>
                  <a:srgbClr val="2AAAB0"/>
                </a:solidFill>
              </a:rPr>
              <a:t>Are there distinct customer groups within high-value customers that require differentiated engagement strategies?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800" dirty="0">
                <a:solidFill>
                  <a:srgbClr val="2AAAB0"/>
                </a:solidFill>
              </a:rPr>
              <a:t>The goal of the analysis is to translate raw transaction data into actionable customer insights that support retention, upsell, and win-back decision-making.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800" dirty="0">
                <a:solidFill>
                  <a:srgbClr val="2AAAB0"/>
                </a:solidFill>
              </a:rPr>
              <a:t>The findings provide a structured view of customer value concentration, highlight growth opportunities across segments, and demonstrate how customer-level analytics can inform strategic decisions in an e-commerce context.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C917EED-85D3-47DF-9E87-F3B7040D650A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71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6B7DB-A145-4290-AC7E-3936D09B781C}"/>
              </a:ext>
            </a:extLst>
          </p:cNvPr>
          <p:cNvSpPr txBox="1">
            <a:spLocks/>
          </p:cNvSpPr>
          <p:nvPr/>
        </p:nvSpPr>
        <p:spPr>
          <a:xfrm>
            <a:off x="782053" y="376642"/>
            <a:ext cx="7230723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5461"/>
                </a:solidFill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4C440-2288-0F0C-51B6-769D7EF7116B}"/>
              </a:ext>
            </a:extLst>
          </p:cNvPr>
          <p:cNvSpPr txBox="1">
            <a:spLocks/>
          </p:cNvSpPr>
          <p:nvPr/>
        </p:nvSpPr>
        <p:spPr>
          <a:xfrm>
            <a:off x="4341222" y="1667651"/>
            <a:ext cx="7068725" cy="48137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rgbClr val="2AAAB0"/>
                </a:solidFill>
              </a:rPr>
              <a:t>Data Collection &amp; Storage</a:t>
            </a:r>
            <a:endParaRPr lang="en-US" sz="1700" dirty="0">
              <a:solidFill>
                <a:srgbClr val="2AAAB0"/>
              </a:solidFill>
            </a:endParaRPr>
          </a:p>
          <a:p>
            <a:pPr lvl="1"/>
            <a:r>
              <a:rPr lang="en-US" sz="1400" dirty="0">
                <a:solidFill>
                  <a:srgbClr val="2AAAB0"/>
                </a:solidFill>
              </a:rPr>
              <a:t>Downloaded retail transaction data from UCI Repository</a:t>
            </a:r>
          </a:p>
          <a:p>
            <a:pPr lvl="1"/>
            <a:r>
              <a:rPr lang="en-US" sz="1400" dirty="0">
                <a:solidFill>
                  <a:srgbClr val="2AAAB0"/>
                </a:solidFill>
              </a:rPr>
              <a:t>Modeled data using a </a:t>
            </a:r>
            <a:r>
              <a:rPr lang="en-US" sz="1400" b="1" dirty="0">
                <a:solidFill>
                  <a:srgbClr val="2AAAB0"/>
                </a:solidFill>
              </a:rPr>
              <a:t>star schema</a:t>
            </a:r>
            <a:r>
              <a:rPr lang="en-US" sz="1400" dirty="0">
                <a:solidFill>
                  <a:srgbClr val="2AAAB0"/>
                </a:solidFill>
              </a:rPr>
              <a:t> (fact &amp; dimension tables) for structured analysis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rgbClr val="2AAAB0"/>
                </a:solidFill>
              </a:rPr>
              <a:t>Data Cleaning (SQL)</a:t>
            </a:r>
            <a:endParaRPr lang="en-US" sz="1700" dirty="0">
              <a:solidFill>
                <a:srgbClr val="2AAAB0"/>
              </a:solidFill>
            </a:endParaRPr>
          </a:p>
          <a:p>
            <a:pPr lvl="1"/>
            <a:r>
              <a:rPr lang="en-US" sz="1400" dirty="0">
                <a:solidFill>
                  <a:srgbClr val="2AAAB0"/>
                </a:solidFill>
              </a:rPr>
              <a:t>Removed blanks and duplicates</a:t>
            </a:r>
          </a:p>
          <a:p>
            <a:pPr lvl="1"/>
            <a:r>
              <a:rPr lang="en-US" sz="1400" dirty="0">
                <a:solidFill>
                  <a:srgbClr val="2AAAB0"/>
                </a:solidFill>
              </a:rPr>
              <a:t>Filtered logically incorrect transactions (negative quantity and unit price)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rgbClr val="2AAAB0"/>
                </a:solidFill>
              </a:rPr>
              <a:t>Exploratory Data Analysis</a:t>
            </a:r>
            <a:endParaRPr lang="en-US" sz="1700" dirty="0">
              <a:solidFill>
                <a:srgbClr val="2AAAB0"/>
              </a:solidFill>
            </a:endParaRPr>
          </a:p>
          <a:p>
            <a:pPr lvl="1"/>
            <a:r>
              <a:rPr lang="en-US" sz="1400" dirty="0">
                <a:solidFill>
                  <a:srgbClr val="2AAAB0"/>
                </a:solidFill>
              </a:rPr>
              <a:t>Analyzed distributions of </a:t>
            </a:r>
            <a:r>
              <a:rPr lang="en-US" sz="1400" b="1" dirty="0">
                <a:solidFill>
                  <a:srgbClr val="2AAAB0"/>
                </a:solidFill>
              </a:rPr>
              <a:t>recency, frequency, and revenue</a:t>
            </a:r>
            <a:endParaRPr lang="en-US" sz="1400" dirty="0">
              <a:solidFill>
                <a:srgbClr val="2AAAB0"/>
              </a:solidFill>
            </a:endParaRPr>
          </a:p>
          <a:p>
            <a:pPr lvl="1"/>
            <a:r>
              <a:rPr lang="en-US" sz="1400" dirty="0">
                <a:solidFill>
                  <a:srgbClr val="2AAAB0"/>
                </a:solidFill>
              </a:rPr>
              <a:t>Identified right-skewed behavior to validate </a:t>
            </a:r>
            <a:r>
              <a:rPr lang="en-US" sz="1400" b="1" dirty="0">
                <a:solidFill>
                  <a:srgbClr val="2AAAB0"/>
                </a:solidFill>
              </a:rPr>
              <a:t>RFM segmentation</a:t>
            </a:r>
            <a:endParaRPr lang="en-US" sz="1400" dirty="0">
              <a:solidFill>
                <a:srgbClr val="2AAAB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rgbClr val="2AAAB0"/>
                </a:solidFill>
              </a:rPr>
              <a:t>Customer Segmentation</a:t>
            </a:r>
            <a:endParaRPr lang="en-US" sz="1700" dirty="0">
              <a:solidFill>
                <a:srgbClr val="2AAAB0"/>
              </a:solidFill>
            </a:endParaRPr>
          </a:p>
          <a:p>
            <a:pPr lvl="1"/>
            <a:r>
              <a:rPr lang="en-US" sz="1700" dirty="0">
                <a:solidFill>
                  <a:srgbClr val="2AAAB0"/>
                </a:solidFill>
              </a:rPr>
              <a:t>Applied </a:t>
            </a:r>
            <a:r>
              <a:rPr lang="en-US" sz="1700" b="1" dirty="0">
                <a:solidFill>
                  <a:srgbClr val="2AAAB0"/>
                </a:solidFill>
              </a:rPr>
              <a:t>RFM analysis</a:t>
            </a:r>
            <a:r>
              <a:rPr lang="en-US" sz="1700" dirty="0">
                <a:solidFill>
                  <a:srgbClr val="2AAAB0"/>
                </a:solidFill>
              </a:rPr>
              <a:t> to classify customers into four value-based segments</a:t>
            </a:r>
          </a:p>
          <a:p>
            <a:pPr lvl="1"/>
            <a:r>
              <a:rPr lang="en-US" sz="1700" dirty="0">
                <a:solidFill>
                  <a:srgbClr val="2AAAB0"/>
                </a:solidFill>
              </a:rPr>
              <a:t>Performed </a:t>
            </a:r>
            <a:r>
              <a:rPr lang="en-US" sz="1700" b="1" dirty="0">
                <a:solidFill>
                  <a:srgbClr val="2AAAB0"/>
                </a:solidFill>
              </a:rPr>
              <a:t>K-Means clustering</a:t>
            </a:r>
            <a:r>
              <a:rPr lang="en-US" sz="1700" dirty="0">
                <a:solidFill>
                  <a:srgbClr val="2AAAB0"/>
                </a:solidFill>
              </a:rPr>
              <a:t> to uncover deeper behavioral patterns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b="1" dirty="0">
                <a:solidFill>
                  <a:srgbClr val="2AAAB0"/>
                </a:solidFill>
              </a:rPr>
              <a:t>Dashboards</a:t>
            </a:r>
            <a:endParaRPr lang="en-US" sz="1700" dirty="0">
              <a:solidFill>
                <a:srgbClr val="2AAAB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C7F51C-6236-7672-C78A-46E2055D0DA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D57C65-D591-7434-3C89-24EE6395BD1B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262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8C7482-DCEE-05D5-9BBB-AD0A02819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440" y="1181561"/>
            <a:ext cx="5632560" cy="4284961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BB2615C-F880-67BE-B6B7-1B23138EF4E9}"/>
              </a:ext>
            </a:extLst>
          </p:cNvPr>
          <p:cNvSpPr txBox="1">
            <a:spLocks/>
          </p:cNvSpPr>
          <p:nvPr/>
        </p:nvSpPr>
        <p:spPr>
          <a:xfrm>
            <a:off x="680378" y="126587"/>
            <a:ext cx="10515600" cy="94959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5461"/>
                </a:solidFill>
              </a:rPr>
              <a:t>DASHBOARD TAB 1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9E78B3-4EBE-AB6D-8853-03E85F29AED1}"/>
              </a:ext>
            </a:extLst>
          </p:cNvPr>
          <p:cNvCxnSpPr/>
          <p:nvPr/>
        </p:nvCxnSpPr>
        <p:spPr>
          <a:xfrm>
            <a:off x="680378" y="996668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273C953B-4051-E552-F52E-7F1510AF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8891" y="1181561"/>
            <a:ext cx="5814531" cy="42849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4779037-1C14-CC40-B300-B2A526AEA6D8}"/>
              </a:ext>
            </a:extLst>
          </p:cNvPr>
          <p:cNvSpPr txBox="1"/>
          <p:nvPr/>
        </p:nvSpPr>
        <p:spPr>
          <a:xfrm>
            <a:off x="463440" y="5625548"/>
            <a:ext cx="11559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Interactive view of revenue trends, product performance, and drill-through product insights across customer segments and geographies.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9537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86036-539B-B214-84DC-D8CB227F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28646F-7FEC-DF6D-51BF-03C7F5DB2667}"/>
              </a:ext>
            </a:extLst>
          </p:cNvPr>
          <p:cNvSpPr txBox="1">
            <a:spLocks/>
          </p:cNvSpPr>
          <p:nvPr/>
        </p:nvSpPr>
        <p:spPr>
          <a:xfrm>
            <a:off x="680378" y="126587"/>
            <a:ext cx="10515600" cy="94959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5461"/>
                </a:solidFill>
              </a:rPr>
              <a:t>DASHBOARD TAB 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E5AE6B-F46A-C9B2-ADD4-BBD3E5857991}"/>
              </a:ext>
            </a:extLst>
          </p:cNvPr>
          <p:cNvCxnSpPr/>
          <p:nvPr/>
        </p:nvCxnSpPr>
        <p:spPr>
          <a:xfrm>
            <a:off x="680378" y="996668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53BF45-8C5E-AD07-3E2C-B213F0F37F50}"/>
              </a:ext>
            </a:extLst>
          </p:cNvPr>
          <p:cNvSpPr txBox="1"/>
          <p:nvPr/>
        </p:nvSpPr>
        <p:spPr>
          <a:xfrm>
            <a:off x="523075" y="6085082"/>
            <a:ext cx="115599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Customer segmentation view highlighting revenue concentration, behavioral differences, and segment-level product preferences.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90B24-62B5-3106-D1CC-B863D4648D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517" y="1076181"/>
            <a:ext cx="10343461" cy="486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084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B488D-85BD-686C-3B19-EA6262336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47EE24-96D1-9348-D7B3-6840FE0162B1}"/>
              </a:ext>
            </a:extLst>
          </p:cNvPr>
          <p:cNvSpPr txBox="1">
            <a:spLocks/>
          </p:cNvSpPr>
          <p:nvPr/>
        </p:nvSpPr>
        <p:spPr>
          <a:xfrm>
            <a:off x="680378" y="126587"/>
            <a:ext cx="10515600" cy="94959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5461"/>
                </a:solidFill>
              </a:rPr>
              <a:t>DASHBOARD TAB 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5ED6795-0CBF-0B2D-752E-351A6DF758FF}"/>
              </a:ext>
            </a:extLst>
          </p:cNvPr>
          <p:cNvCxnSpPr/>
          <p:nvPr/>
        </p:nvCxnSpPr>
        <p:spPr>
          <a:xfrm>
            <a:off x="680378" y="996668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22212E-7608-682C-E2A0-2B7BC5803F79}"/>
              </a:ext>
            </a:extLst>
          </p:cNvPr>
          <p:cNvSpPr txBox="1"/>
          <p:nvPr/>
        </p:nvSpPr>
        <p:spPr>
          <a:xfrm>
            <a:off x="680378" y="6234169"/>
            <a:ext cx="11559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Action-oriented view identifying upsell, win-back, and high-impact customer retention opportunities.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F4D01A-1462-EC57-9BF0-04CEE02AA9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118" y="1039962"/>
            <a:ext cx="10320517" cy="4973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127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1830E-E316-FECD-563A-F68EAB38F6CC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5461"/>
                </a:solidFill>
              </a:rPr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11E22-B8B8-7B47-095A-5C31432A4E56}"/>
              </a:ext>
            </a:extLst>
          </p:cNvPr>
          <p:cNvSpPr txBox="1">
            <a:spLocks/>
          </p:cNvSpPr>
          <p:nvPr/>
        </p:nvSpPr>
        <p:spPr>
          <a:xfrm>
            <a:off x="838200" y="1606963"/>
            <a:ext cx="5181600" cy="4833590"/>
          </a:xfrm>
          <a:prstGeom prst="rect">
            <a:avLst/>
          </a:prstGeom>
        </p:spPr>
        <p:txBody>
          <a:bodyPr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700" dirty="0">
                <a:solidFill>
                  <a:srgbClr val="018790"/>
                </a:solidFill>
              </a:rPr>
              <a:t>Findings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sz="3200" dirty="0">
                <a:solidFill>
                  <a:srgbClr val="2AAAB0"/>
                </a:solidFill>
              </a:rPr>
              <a:t>Revenue is highly concentrated among customer segments, with Active High-Value customers contributing 77% of total revenue, while Inactive High-Value customers represent $986K in revenue at risk.</a:t>
            </a:r>
          </a:p>
          <a:p>
            <a:r>
              <a:rPr lang="en-US" sz="3200" dirty="0">
                <a:solidFill>
                  <a:srgbClr val="2AAAB0"/>
                </a:solidFill>
              </a:rPr>
              <a:t>K-Means clustering identified a VVIP micro-segment (4 customers) generating 3.18% of total revenue, characterized by extremely high frequency and recent activity.</a:t>
            </a:r>
          </a:p>
          <a:p>
            <a:r>
              <a:rPr lang="en-US" sz="3200" dirty="0">
                <a:solidFill>
                  <a:srgbClr val="2AAAB0"/>
                </a:solidFill>
              </a:rPr>
              <a:t>Product revenue is highly diversified, with the top product contributing only 1.89% of total revenue, and some products generating high revenue from very low purchase frequency</a:t>
            </a:r>
            <a:r>
              <a:rPr lang="en-US" sz="3200" dirty="0"/>
              <a:t>.</a:t>
            </a:r>
          </a:p>
          <a:p>
            <a:r>
              <a:rPr lang="en-US" sz="3200" dirty="0">
                <a:solidFill>
                  <a:srgbClr val="2AAAB0"/>
                </a:solidFill>
              </a:rPr>
              <a:t>The UK dominates order volume, while Active Low-Value customers place frequent but small orders, creating a clear upsell opportunity window.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A8EB5-2229-3FAA-001B-97FE2D404EE0}"/>
              </a:ext>
            </a:extLst>
          </p:cNvPr>
          <p:cNvSpPr txBox="1">
            <a:spLocks/>
          </p:cNvSpPr>
          <p:nvPr/>
        </p:nvSpPr>
        <p:spPr>
          <a:xfrm>
            <a:off x="6153238" y="1606963"/>
            <a:ext cx="5664200" cy="457517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018790"/>
                </a:solidFill>
              </a:rPr>
              <a:t>Implications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sz="1900" dirty="0">
                <a:solidFill>
                  <a:srgbClr val="2AAAB0"/>
                </a:solidFill>
              </a:rPr>
              <a:t>Retention of high-value customers is critical, and win-back strategies for inactive high-value customers offer high ROI compared to acquiring new customers.</a:t>
            </a:r>
          </a:p>
          <a:p>
            <a:r>
              <a:rPr lang="en-US" sz="1900" dirty="0">
                <a:solidFill>
                  <a:srgbClr val="2AAAB0"/>
                </a:solidFill>
              </a:rPr>
              <a:t>VVIP customers require</a:t>
            </a:r>
            <a:r>
              <a:rPr lang="en-US" sz="1900" b="1" dirty="0">
                <a:solidFill>
                  <a:srgbClr val="2AAAB0"/>
                </a:solidFill>
              </a:rPr>
              <a:t> white-glove engagement</a:t>
            </a:r>
            <a:r>
              <a:rPr lang="en-US" sz="1900" dirty="0">
                <a:solidFill>
                  <a:srgbClr val="2AAAB0"/>
                </a:solidFill>
              </a:rPr>
              <a:t> to protect from revenue impact.</a:t>
            </a:r>
          </a:p>
          <a:p>
            <a:r>
              <a:rPr lang="en-US" sz="1900" dirty="0">
                <a:solidFill>
                  <a:srgbClr val="2AAAB0"/>
                </a:solidFill>
              </a:rPr>
              <a:t>Top product’s revenue share shows that business is not dependent on a single product</a:t>
            </a:r>
          </a:p>
          <a:p>
            <a:r>
              <a:rPr lang="en-US" sz="1900" b="1" dirty="0">
                <a:solidFill>
                  <a:srgbClr val="2AAAB0"/>
                </a:solidFill>
              </a:rPr>
              <a:t>AOV expansion strategies</a:t>
            </a:r>
            <a:r>
              <a:rPr lang="en-US" sz="1900" dirty="0">
                <a:solidFill>
                  <a:srgbClr val="2AAAB0"/>
                </a:solidFill>
              </a:rPr>
              <a:t> (bundles, minimum order thresholds, cross-sells) in the core UK market can unlock growth without increasing acquisition spend.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97B004-CDD5-C7B9-5F81-323A5B34013E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4124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2A9EA-92BD-3E68-D5AA-6E97558444E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5461"/>
                </a:solidFill>
              </a:rPr>
              <a:t>CONCLUSION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FB9B8AD-FC57-6B92-B54C-53064CD001BC}"/>
              </a:ext>
            </a:extLst>
          </p:cNvPr>
          <p:cNvSpPr txBox="1">
            <a:spLocks/>
          </p:cNvSpPr>
          <p:nvPr/>
        </p:nvSpPr>
        <p:spPr>
          <a:xfrm>
            <a:off x="4328933" y="1825624"/>
            <a:ext cx="7349924" cy="4471003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52000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300" dirty="0">
                <a:solidFill>
                  <a:srgbClr val="2AAAB0"/>
                </a:solidFill>
              </a:rPr>
              <a:t>The analysis demonstrates that e-commerce revenue is primarily driven by customer behavior rather than individual products, with a small group of high-value customers accounting for a disproportionate share of total revenue.</a:t>
            </a:r>
          </a:p>
          <a:p>
            <a:pPr indent="-252000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300" dirty="0">
                <a:solidFill>
                  <a:srgbClr val="2AAAB0"/>
                </a:solidFill>
              </a:rPr>
              <a:t>Customer segmentation reveals a highly concentrated revenue structure, where retaining and protecting active high-value customers is critical, while inactive high-value customers present a strong win-back opportunity with higher expected returns than new customer acquisition.</a:t>
            </a:r>
          </a:p>
          <a:p>
            <a:pPr indent="-252000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600" dirty="0">
                <a:solidFill>
                  <a:srgbClr val="2AAAB0"/>
                </a:solidFill>
              </a:rPr>
              <a:t>Although product revenue is diversified, clear seasonal demand patterns and frequent low-value purchasing behavior indicate that future growth will be driven by average order value expansion, targeted retention, and personalized engagement strategies.</a:t>
            </a:r>
          </a:p>
          <a:p>
            <a:pPr indent="-252000">
              <a:lnSpc>
                <a:spcPct val="110000"/>
              </a:lnSpc>
              <a:spcBef>
                <a:spcPts val="1200"/>
              </a:spcBef>
              <a:spcAft>
                <a:spcPts val="600"/>
              </a:spcAft>
            </a:pPr>
            <a:r>
              <a:rPr lang="en-US" sz="3600" dirty="0">
                <a:solidFill>
                  <a:srgbClr val="2AAAB0"/>
                </a:solidFill>
              </a:rPr>
              <a:t>Overall, the findings highlight the importance of data-driven customer segmentation and behavioral analytics in guiding revenue growth, risk mitigation, and strategic decision-making in an e-commerce environment.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FADA367C-A2F4-1881-43D4-73CF2994371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717603-D562-C300-5E2A-9BDB4C7D9007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028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7DE20-7502-834A-4DAC-FF551ABDE26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solidFill>
                  <a:srgbClr val="005461"/>
                </a:solidFill>
              </a:rPr>
              <a:t>APPENDIX</a:t>
            </a:r>
          </a:p>
        </p:txBody>
      </p:sp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9018189F-1E78-20B3-85D9-1A3C28D91F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C98637-3F7B-9950-EC28-9A4355D07A67}"/>
              </a:ext>
            </a:extLst>
          </p:cNvPr>
          <p:cNvCxnSpPr/>
          <p:nvPr/>
        </p:nvCxnSpPr>
        <p:spPr>
          <a:xfrm>
            <a:off x="680378" y="1314720"/>
            <a:ext cx="10428258" cy="0"/>
          </a:xfrm>
          <a:prstGeom prst="line">
            <a:avLst/>
          </a:prstGeom>
          <a:ln w="1905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F38E811-4456-AAF1-C6C9-762E6CCA7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006" y="1427567"/>
            <a:ext cx="7248708" cy="457566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3CEA9E8-5702-2234-3221-84B5FFB7D9EB}"/>
              </a:ext>
            </a:extLst>
          </p:cNvPr>
          <p:cNvSpPr txBox="1"/>
          <p:nvPr/>
        </p:nvSpPr>
        <p:spPr>
          <a:xfrm>
            <a:off x="4144006" y="6020977"/>
            <a:ext cx="2543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2">
                    <a:lumMod val="50000"/>
                  </a:schemeClr>
                </a:solidFill>
              </a:rPr>
              <a:t>Data Model used for this project</a:t>
            </a:r>
          </a:p>
        </p:txBody>
      </p:sp>
    </p:spTree>
    <p:extLst>
      <p:ext uri="{BB962C8B-B14F-4D97-AF65-F5344CB8AC3E}">
        <p14:creationId xmlns:p14="http://schemas.microsoft.com/office/powerpoint/2010/main" val="3308711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F79C6-ED4D-F490-340E-CC911B15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197AF67-A879-41F7-7ED5-9D13076B793B}"/>
              </a:ext>
            </a:extLst>
          </p:cNvPr>
          <p:cNvSpPr txBox="1"/>
          <p:nvPr/>
        </p:nvSpPr>
        <p:spPr>
          <a:xfrm>
            <a:off x="346101" y="1806733"/>
            <a:ext cx="171117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>
                <a:solidFill>
                  <a:schemeClr val="bg2">
                    <a:lumMod val="50000"/>
                  </a:schemeClr>
                </a:solidFill>
              </a:rPr>
              <a:t>Segmentation Logic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F6BFDD-61B1-3E5E-E199-F8D15DC9BD07}"/>
              </a:ext>
            </a:extLst>
          </p:cNvPr>
          <p:cNvSpPr txBox="1"/>
          <p:nvPr/>
        </p:nvSpPr>
        <p:spPr>
          <a:xfrm>
            <a:off x="6122952" y="857955"/>
            <a:ext cx="4350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2AAAB0"/>
                </a:solidFill>
              </a:rPr>
              <a:t>Recency= days since last purchase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2AAAB0"/>
                </a:solidFill>
              </a:rPr>
              <a:t>Frequency = total orders per customer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2AAAB0"/>
                </a:solidFill>
              </a:rPr>
              <a:t>Monetary = total revenue per customer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04C3CD-4C61-96C3-4ED2-2F9470B6F13B}"/>
              </a:ext>
            </a:extLst>
          </p:cNvPr>
          <p:cNvCxnSpPr>
            <a:cxnSpLocks/>
          </p:cNvCxnSpPr>
          <p:nvPr/>
        </p:nvCxnSpPr>
        <p:spPr>
          <a:xfrm flipV="1">
            <a:off x="212035" y="2082122"/>
            <a:ext cx="11767930" cy="10102"/>
          </a:xfrm>
          <a:prstGeom prst="line">
            <a:avLst/>
          </a:prstGeom>
          <a:ln w="1270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CA2C7835-646B-839D-6865-0D7A5C34F0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101" y="857955"/>
            <a:ext cx="4582164" cy="96215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79DECF52-FCC7-1EA4-20C3-10F267F22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01" y="2266928"/>
            <a:ext cx="5140299" cy="3984988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114AD27E-CBBC-2288-A643-2B0CB5365244}"/>
              </a:ext>
            </a:extLst>
          </p:cNvPr>
          <p:cNvSpPr txBox="1"/>
          <p:nvPr/>
        </p:nvSpPr>
        <p:spPr>
          <a:xfrm>
            <a:off x="6013622" y="2476044"/>
            <a:ext cx="536050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AAAB0"/>
                </a:solidFill>
              </a:rPr>
              <a:t>The adjacent distribution  shows that revenue is </a:t>
            </a:r>
            <a:r>
              <a:rPr lang="en-US" sz="2000" b="1" dirty="0">
                <a:solidFill>
                  <a:srgbClr val="2AAAB0"/>
                </a:solidFill>
              </a:rPr>
              <a:t>highly right-skewed</a:t>
            </a:r>
            <a:r>
              <a:rPr lang="en-US" sz="2000" dirty="0">
                <a:solidFill>
                  <a:srgbClr val="2AAAB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AAAB0"/>
                </a:solidFill>
              </a:rPr>
              <a:t>To prevent this skewness from disproportionately influencing the K-Means clustering results, a </a:t>
            </a:r>
            <a:r>
              <a:rPr lang="en-US" sz="2000" b="1" dirty="0">
                <a:solidFill>
                  <a:srgbClr val="2AAAB0"/>
                </a:solidFill>
              </a:rPr>
              <a:t>log transformation</a:t>
            </a:r>
            <a:r>
              <a:rPr lang="en-US" sz="2000" dirty="0">
                <a:solidFill>
                  <a:srgbClr val="2AAAB0"/>
                </a:solidFill>
              </a:rPr>
              <a:t> was applied to the monetary variable.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AAAB0"/>
                </a:solidFill>
              </a:rPr>
              <a:t>This transformation was not required for RFM segmentation, as RFM relies on </a:t>
            </a:r>
            <a:r>
              <a:rPr lang="en-US" sz="2000" b="1" dirty="0">
                <a:solidFill>
                  <a:srgbClr val="2AAAB0"/>
                </a:solidFill>
              </a:rPr>
              <a:t>relative scoring (1–5)</a:t>
            </a:r>
            <a:r>
              <a:rPr lang="en-US" sz="2000" dirty="0">
                <a:solidFill>
                  <a:srgbClr val="2AAAB0"/>
                </a:solidFill>
              </a:rPr>
              <a:t>, which is robust to skewed distributions.</a:t>
            </a:r>
            <a:endParaRPr lang="en-IN" sz="2000" dirty="0">
              <a:solidFill>
                <a:srgbClr val="2AAAB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55B1A5-E0CB-7309-F834-AD2691664759}"/>
              </a:ext>
            </a:extLst>
          </p:cNvPr>
          <p:cNvSpPr txBox="1"/>
          <p:nvPr/>
        </p:nvSpPr>
        <p:spPr>
          <a:xfrm>
            <a:off x="346101" y="34971"/>
            <a:ext cx="46442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005461"/>
                </a:solidFill>
              </a:rPr>
              <a:t>RFM Segmentation</a:t>
            </a:r>
          </a:p>
        </p:txBody>
      </p:sp>
    </p:spTree>
    <p:extLst>
      <p:ext uri="{BB962C8B-B14F-4D97-AF65-F5344CB8AC3E}">
        <p14:creationId xmlns:p14="http://schemas.microsoft.com/office/powerpoint/2010/main" val="3498498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335FD-DBCD-9DB8-98E2-8CD9C0B1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51E70E4-9B6F-F95E-1A34-EBB7D3EF8316}"/>
              </a:ext>
            </a:extLst>
          </p:cNvPr>
          <p:cNvSpPr txBox="1"/>
          <p:nvPr/>
        </p:nvSpPr>
        <p:spPr>
          <a:xfrm>
            <a:off x="580404" y="6136033"/>
            <a:ext cx="10601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dirty="0">
                <a:solidFill>
                  <a:schemeClr val="bg2">
                    <a:lumMod val="50000"/>
                  </a:schemeClr>
                </a:solidFill>
              </a:rPr>
              <a:t>Primarily Elbow method was used to determine K  and silhouette score method was used as secondary method to determine k</a:t>
            </a:r>
          </a:p>
          <a:p>
            <a:r>
              <a:rPr lang="en-IN" sz="1500" dirty="0">
                <a:solidFill>
                  <a:schemeClr val="bg2">
                    <a:lumMod val="50000"/>
                  </a:schemeClr>
                </a:solidFill>
              </a:rPr>
              <a:t>From above methods value of </a:t>
            </a:r>
            <a:r>
              <a:rPr lang="en-IN" sz="1700" b="1" dirty="0">
                <a:solidFill>
                  <a:schemeClr val="bg2">
                    <a:lumMod val="50000"/>
                  </a:schemeClr>
                </a:solidFill>
              </a:rPr>
              <a:t>K= 4 </a:t>
            </a:r>
            <a:r>
              <a:rPr lang="en-IN" sz="1500" dirty="0">
                <a:solidFill>
                  <a:schemeClr val="bg2">
                    <a:lumMod val="50000"/>
                  </a:schemeClr>
                </a:solidFill>
              </a:rPr>
              <a:t>was used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6C90D-0F66-7B62-3C13-A16916243AA4}"/>
              </a:ext>
            </a:extLst>
          </p:cNvPr>
          <p:cNvSpPr txBox="1"/>
          <p:nvPr/>
        </p:nvSpPr>
        <p:spPr>
          <a:xfrm>
            <a:off x="7024100" y="634777"/>
            <a:ext cx="4350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2AAAB0"/>
                </a:solidFill>
              </a:rPr>
              <a:t>Recency= days since last purchase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>
                <a:solidFill>
                  <a:srgbClr val="2AAAB0"/>
                </a:solidFill>
              </a:rPr>
              <a:t>Frequency = total orders per customer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 err="1">
                <a:solidFill>
                  <a:srgbClr val="2AAAB0"/>
                </a:solidFill>
              </a:rPr>
              <a:t>Monetary_log</a:t>
            </a:r>
            <a:r>
              <a:rPr lang="en-IN" dirty="0">
                <a:solidFill>
                  <a:srgbClr val="2AAAB0"/>
                </a:solidFill>
              </a:rPr>
              <a:t> = log transformed total revenue per customer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9BC933E-F712-8ADF-E1D8-A090A7C7E25D}"/>
              </a:ext>
            </a:extLst>
          </p:cNvPr>
          <p:cNvCxnSpPr>
            <a:cxnSpLocks/>
          </p:cNvCxnSpPr>
          <p:nvPr/>
        </p:nvCxnSpPr>
        <p:spPr>
          <a:xfrm flipV="1">
            <a:off x="212035" y="2262457"/>
            <a:ext cx="11767930" cy="10102"/>
          </a:xfrm>
          <a:prstGeom prst="line">
            <a:avLst/>
          </a:prstGeom>
          <a:ln w="12700">
            <a:solidFill>
              <a:srgbClr val="0187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349F7EB-9B49-D920-61CB-0C0CFD0264D6}"/>
              </a:ext>
            </a:extLst>
          </p:cNvPr>
          <p:cNvSpPr txBox="1"/>
          <p:nvPr/>
        </p:nvSpPr>
        <p:spPr>
          <a:xfrm>
            <a:off x="346101" y="34971"/>
            <a:ext cx="47175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solidFill>
                  <a:srgbClr val="005461"/>
                </a:solidFill>
              </a:rPr>
              <a:t>K-Means Clustering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25BD0-1C32-7088-8CEB-BE2EE7E0C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03" y="2375043"/>
            <a:ext cx="10601117" cy="37609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62914A-F2B2-A1DF-A277-D81AB79B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35" y="1065538"/>
            <a:ext cx="6367669" cy="9240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070CE5-DB9F-4DEC-5448-4EE3F16B6819}"/>
              </a:ext>
            </a:extLst>
          </p:cNvPr>
          <p:cNvSpPr txBox="1"/>
          <p:nvPr/>
        </p:nvSpPr>
        <p:spPr>
          <a:xfrm>
            <a:off x="212035" y="1958814"/>
            <a:ext cx="42273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>
                <a:solidFill>
                  <a:schemeClr val="bg2">
                    <a:lumMod val="50000"/>
                  </a:schemeClr>
                </a:solidFill>
              </a:rPr>
              <a:t>Interpretation of clusters based on centroid analysis</a:t>
            </a:r>
          </a:p>
        </p:txBody>
      </p:sp>
    </p:spTree>
    <p:extLst>
      <p:ext uri="{BB962C8B-B14F-4D97-AF65-F5344CB8AC3E}">
        <p14:creationId xmlns:p14="http://schemas.microsoft.com/office/powerpoint/2010/main" val="493216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915</Words>
  <Application>Microsoft Office PowerPoint</Application>
  <PresentationFormat>Widescreen</PresentationFormat>
  <Paragraphs>87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E-commerce Sales &amp; Customer Segmentation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Deeksha Gosain</dc:creator>
  <cp:lastModifiedBy>Deeksha Gosain</cp:lastModifiedBy>
  <cp:revision>16</cp:revision>
  <dcterms:created xsi:type="dcterms:W3CDTF">2026-01-05T10:38:31Z</dcterms:created>
  <dcterms:modified xsi:type="dcterms:W3CDTF">2026-01-05T16:31:29Z</dcterms:modified>
</cp:coreProperties>
</file>